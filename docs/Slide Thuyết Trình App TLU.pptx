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Inter" panose="020B0604020202020204" charset="0"/>
      <p:regular r:id="rId13"/>
      <p:bold r:id="rId14"/>
      <p:italic r:id="rId15"/>
      <p:boldItalic r:id="rId16"/>
    </p:embeddedFont>
    <p:embeddedFont>
      <p:font typeface="Inter Medium" panose="020B0604020202020204" charset="0"/>
      <p:regular r:id="rId17"/>
      <p:bold r:id="rId18"/>
      <p:italic r:id="rId19"/>
      <p:boldItalic r:id="rId20"/>
    </p:embeddedFont>
    <p:embeddedFont>
      <p:font typeface="Inter SemiBold" panose="020B0604020202020204" charset="0"/>
      <p:regular r:id="rId21"/>
      <p:bold r:id="rId22"/>
      <p:italic r:id="rId23"/>
      <p:boldItalic r:id="rId24"/>
    </p:embeddedFont>
    <p:embeddedFont>
      <p:font typeface="Plus Jakarta Sans ExtraBold" panose="020B0604020202020204" charset="0"/>
      <p:bold r:id="rId25"/>
      <p:boldItalic r:id="rId26"/>
    </p:embeddedFont>
    <p:embeddedFont>
      <p:font typeface="Plus Jakarta Sans SemiBold"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e734e3cbff_0_8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e734e3cbff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734e3cbff_0_1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e734e3cbff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1646932"/>
            <a:ext cx="11601450" cy="164574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400" b="0" i="0" u="none" strike="noStrike" cap="none">
                <a:solidFill>
                  <a:srgbClr val="1E40AF"/>
                </a:solidFill>
                <a:latin typeface="Plus Jakarta Sans ExtraBold"/>
                <a:ea typeface="Plus Jakarta Sans ExtraBold"/>
                <a:cs typeface="Plus Jakarta Sans ExtraBold"/>
                <a:sym typeface="Plus Jakarta Sans ExtraBold"/>
              </a:rPr>
              <a:t>Ứng Dụng Tra Cứu</a:t>
            </a:r>
            <a:br>
              <a:rPr lang="en-US" sz="1800" b="0" i="0" u="none" strike="noStrike" cap="none">
                <a:solidFill>
                  <a:schemeClr val="dk1"/>
                </a:solidFill>
                <a:latin typeface="Calibri"/>
                <a:ea typeface="Calibri"/>
                <a:cs typeface="Calibri"/>
                <a:sym typeface="Calibri"/>
              </a:rPr>
            </a:br>
            <a:r>
              <a:rPr lang="en-US" sz="5400" b="0" i="0" u="none" strike="noStrike" cap="none">
                <a:solidFill>
                  <a:srgbClr val="1E40AF"/>
                </a:solidFill>
                <a:latin typeface="Plus Jakarta Sans ExtraBold"/>
                <a:ea typeface="Plus Jakarta Sans ExtraBold"/>
                <a:cs typeface="Plus Jakarta Sans ExtraBold"/>
                <a:sym typeface="Plus Jakarta Sans ExtraBold"/>
              </a:rPr>
              <a:t> Điểm Thi TLU</a:t>
            </a:r>
            <a:endParaRPr/>
          </a:p>
        </p:txBody>
      </p:sp>
      <p:sp>
        <p:nvSpPr>
          <p:cNvPr id="86" name="Google Shape;86;p13"/>
          <p:cNvSpPr/>
          <p:nvPr/>
        </p:nvSpPr>
        <p:spPr>
          <a:xfrm>
            <a:off x="5381625" y="3578423"/>
            <a:ext cx="142875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571500" y="3921323"/>
            <a:ext cx="1104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64748B"/>
                </a:solidFill>
                <a:latin typeface="Inter Medium"/>
                <a:ea typeface="Inter Medium"/>
                <a:cs typeface="Inter Medium"/>
                <a:sym typeface="Inter Medium"/>
              </a:rPr>
              <a:t>Nền tảng Android | Firebase Realtime Database</a:t>
            </a:r>
            <a:endParaRPr/>
          </a:p>
        </p:txBody>
      </p:sp>
      <p:sp>
        <p:nvSpPr>
          <p:cNvPr id="88" name="Google Shape;88;p13"/>
          <p:cNvSpPr txBox="1"/>
          <p:nvPr/>
        </p:nvSpPr>
        <p:spPr>
          <a:xfrm>
            <a:off x="571500" y="4763244"/>
            <a:ext cx="11049000" cy="6003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E40AF"/>
                </a:solidFill>
                <a:latin typeface="Inter SemiBold"/>
                <a:ea typeface="Inter SemiBold"/>
                <a:cs typeface="Inter SemiBold"/>
                <a:sym typeface="Inter SemiBold"/>
              </a:rPr>
              <a:t>Sinh viên thực hiện:	 Ki</a:t>
            </a:r>
            <a:r>
              <a:rPr lang="en-US" sz="1500">
                <a:solidFill>
                  <a:srgbClr val="1E40AF"/>
                </a:solidFill>
                <a:latin typeface="Inter SemiBold"/>
                <a:ea typeface="Inter SemiBold"/>
                <a:cs typeface="Inter SemiBold"/>
                <a:sym typeface="Inter SemiBold"/>
              </a:rPr>
              <a:t>ều </a:t>
            </a:r>
            <a:r>
              <a:rPr lang="en-US" sz="1500" b="0" i="0" u="none" strike="noStrike" cap="none">
                <a:solidFill>
                  <a:srgbClr val="1E40AF"/>
                </a:solidFill>
                <a:latin typeface="Inter SemiBold"/>
                <a:ea typeface="Inter SemiBold"/>
                <a:cs typeface="Inter SemiBold"/>
                <a:sym typeface="Inter SemiBold"/>
              </a:rPr>
              <a:t>Thiên Phú</a:t>
            </a:r>
            <a:endParaRPr sz="1500" b="0" i="0" u="none" strike="noStrike" cap="none">
              <a:solidFill>
                <a:srgbClr val="1E40AF"/>
              </a:solidFill>
              <a:latin typeface="Inter SemiBold"/>
              <a:ea typeface="Inter SemiBold"/>
              <a:cs typeface="Inter SemiBold"/>
              <a:sym typeface="Inter SemiBold"/>
            </a:endParaRPr>
          </a:p>
          <a:p>
            <a:pPr marL="1371600" marR="0" lvl="0" indent="457200" algn="ctr" rtl="0">
              <a:lnSpc>
                <a:spcPct val="160000"/>
              </a:lnSpc>
              <a:spcBef>
                <a:spcPts val="0"/>
              </a:spcBef>
              <a:spcAft>
                <a:spcPts val="0"/>
              </a:spcAft>
              <a:buNone/>
            </a:pPr>
            <a:r>
              <a:rPr lang="en-US" sz="1500">
                <a:solidFill>
                  <a:srgbClr val="1E40AF"/>
                </a:solidFill>
                <a:latin typeface="Inter SemiBold"/>
                <a:ea typeface="Inter SemiBold"/>
                <a:cs typeface="Inter SemiBold"/>
                <a:sym typeface="Inter SemiBold"/>
              </a:rPr>
              <a:t>Bùi Anh Minh</a:t>
            </a:r>
            <a:endParaRPr sz="1500">
              <a:solidFill>
                <a:srgbClr val="1E40AF"/>
              </a:solidFill>
              <a:latin typeface="Inter SemiBold"/>
              <a:ea typeface="Inter SemiBold"/>
              <a:cs typeface="Inter SemiBold"/>
              <a:sym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6381750" y="2005012"/>
            <a:ext cx="5238750" cy="3810000"/>
          </a:xfrm>
          <a:prstGeom prst="rect">
            <a:avLst/>
          </a:prstGeom>
          <a:noFill/>
          <a:ln>
            <a:noFill/>
          </a:ln>
        </p:spPr>
      </p:pic>
      <p:sp>
        <p:nvSpPr>
          <p:cNvPr id="95" name="Google Shape;95;p14"/>
          <p:cNvSpPr txBox="1"/>
          <p:nvPr/>
        </p:nvSpPr>
        <p:spPr>
          <a:xfrm>
            <a:off x="857250" y="2005012"/>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Thực trạng:</a:t>
            </a:r>
            <a:r>
              <a:rPr lang="en-US" sz="1500" b="0" i="0" u="none" strike="noStrike" cap="none">
                <a:solidFill>
                  <a:srgbClr val="475569"/>
                </a:solidFill>
                <a:latin typeface="Inter"/>
                <a:ea typeface="Inter"/>
                <a:cs typeface="Inter"/>
                <a:sym typeface="Inter"/>
              </a:rPr>
              <a:t> Tra cứu điểm truyền thống qua Web Portal thường chậm, khó thao tác trên thiết bị di động và trải nghiệm UX chưa tối ưu.</a:t>
            </a:r>
            <a:endParaRPr/>
          </a:p>
        </p:txBody>
      </p:sp>
      <p:sp>
        <p:nvSpPr>
          <p:cNvPr id="96" name="Google Shape;96;p14"/>
          <p:cNvSpPr txBox="1"/>
          <p:nvPr/>
        </p:nvSpPr>
        <p:spPr>
          <a:xfrm>
            <a:off x="857250" y="3109912"/>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Mục tiêu cốt lõi:</a:t>
            </a:r>
            <a:r>
              <a:rPr lang="en-US" sz="1500" b="0" i="0" u="none" strike="noStrike" cap="none">
                <a:solidFill>
                  <a:srgbClr val="475569"/>
                </a:solidFill>
                <a:latin typeface="Inter"/>
                <a:ea typeface="Inter"/>
                <a:cs typeface="Inter"/>
                <a:sym typeface="Inter"/>
              </a:rPr>
              <a:t> Xây dựng ứng dụng Android chuyên biệt giúp sinh viên tra cứu điểm thi nhanh chóng, mọi lúc mọi nơi.</a:t>
            </a:r>
            <a:endParaRPr/>
          </a:p>
        </p:txBody>
      </p:sp>
      <p:sp>
        <p:nvSpPr>
          <p:cNvPr id="97" name="Google Shape;97;p14"/>
          <p:cNvSpPr txBox="1"/>
          <p:nvPr/>
        </p:nvSpPr>
        <p:spPr>
          <a:xfrm>
            <a:off x="857250" y="4214812"/>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Giải pháp quản trị:</a:t>
            </a:r>
            <a:r>
              <a:rPr lang="en-US" sz="1500" b="0" i="0" u="none" strike="noStrike" cap="none">
                <a:solidFill>
                  <a:srgbClr val="475569"/>
                </a:solidFill>
                <a:latin typeface="Inter"/>
                <a:ea typeface="Inter"/>
                <a:cs typeface="Inter"/>
                <a:sym typeface="Inter"/>
              </a:rPr>
              <a:t> Cung cấp công cụ ẩn dành riêng cho giảng viên để cập nhật điểm số trực quan.</a:t>
            </a:r>
            <a:endParaRPr/>
          </a:p>
        </p:txBody>
      </p:sp>
      <p:sp>
        <p:nvSpPr>
          <p:cNvPr id="98" name="Google Shape;98;p14"/>
          <p:cNvSpPr txBox="1"/>
          <p:nvPr/>
        </p:nvSpPr>
        <p:spPr>
          <a:xfrm>
            <a:off x="857250" y="5014912"/>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Đồng bộ tức thì:</a:t>
            </a:r>
            <a:r>
              <a:rPr lang="en-US" sz="1500" b="0" i="0" u="none" strike="noStrike" cap="none">
                <a:solidFill>
                  <a:srgbClr val="475569"/>
                </a:solidFill>
                <a:latin typeface="Inter"/>
                <a:ea typeface="Inter"/>
                <a:cs typeface="Inter"/>
                <a:sym typeface="Inter"/>
              </a:rPr>
              <a:t> Áp dụng công nghệ đám mây để đồng bộ hóa dữ liệu thời gian thực (Real-time).</a:t>
            </a:r>
            <a:endParaRPr/>
          </a:p>
        </p:txBody>
      </p:sp>
      <p:pic>
        <p:nvPicPr>
          <p:cNvPr id="99" name="Google Shape;99;p14" descr="image.png"/>
          <p:cNvPicPr preferRelativeResize="0"/>
          <p:nvPr/>
        </p:nvPicPr>
        <p:blipFill rotWithShape="1">
          <a:blip r:embed="rId5">
            <a:alphaModFix/>
          </a:blip>
          <a:srcRect/>
          <a:stretch/>
        </p:blipFill>
        <p:spPr>
          <a:xfrm>
            <a:off x="6381750" y="2005012"/>
            <a:ext cx="5238750" cy="3810000"/>
          </a:xfrm>
          <a:prstGeom prst="rect">
            <a:avLst/>
          </a:prstGeom>
          <a:noFill/>
          <a:ln>
            <a:noFill/>
          </a:ln>
        </p:spPr>
      </p:pic>
      <p:sp>
        <p:nvSpPr>
          <p:cNvPr id="100" name="Google Shape;100;p14"/>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Đặt Vấn Đề </a:t>
            </a:r>
            <a:r>
              <a:rPr lang="en-US" sz="3600" b="0" i="0" u="none" strike="noStrike" cap="none">
                <a:solidFill>
                  <a:srgbClr val="2563EB"/>
                </a:solidFill>
                <a:latin typeface="Plus Jakarta Sans ExtraBold"/>
                <a:ea typeface="Plus Jakarta Sans ExtraBold"/>
                <a:cs typeface="Plus Jakarta Sans ExtraBold"/>
                <a:sym typeface="Plus Jakarta Sans ExtraBold"/>
              </a:rPr>
              <a:t>&amp;</a:t>
            </a:r>
            <a:r>
              <a:rPr lang="en-US" sz="3600" b="0" i="0" u="none" strike="noStrike" cap="none">
                <a:solidFill>
                  <a:srgbClr val="0F172A"/>
                </a:solidFill>
                <a:latin typeface="Plus Jakarta Sans ExtraBold"/>
                <a:ea typeface="Plus Jakarta Sans ExtraBold"/>
                <a:cs typeface="Plus Jakarta Sans ExtraBold"/>
                <a:sym typeface="Plus Jakarta Sans ExtraBold"/>
              </a:rPr>
              <a:t> Mục Tiêu</a:t>
            </a:r>
            <a:endParaRPr/>
          </a:p>
        </p:txBody>
      </p:sp>
      <p:pic>
        <p:nvPicPr>
          <p:cNvPr id="101" name="Google Shape;101;p14" descr="image.png"/>
          <p:cNvPicPr preferRelativeResize="0"/>
          <p:nvPr/>
        </p:nvPicPr>
        <p:blipFill rotWithShape="1">
          <a:blip r:embed="rId6">
            <a:alphaModFix/>
          </a:blip>
          <a:srcRect/>
          <a:stretch/>
        </p:blipFill>
        <p:spPr>
          <a:xfrm>
            <a:off x="571500" y="2024062"/>
            <a:ext cx="171450" cy="200025"/>
          </a:xfrm>
          <a:prstGeom prst="rect">
            <a:avLst/>
          </a:prstGeom>
          <a:noFill/>
          <a:ln>
            <a:noFill/>
          </a:ln>
        </p:spPr>
      </p:pic>
      <p:pic>
        <p:nvPicPr>
          <p:cNvPr id="102" name="Google Shape;102;p14" descr="image.png"/>
          <p:cNvPicPr preferRelativeResize="0"/>
          <p:nvPr/>
        </p:nvPicPr>
        <p:blipFill rotWithShape="1">
          <a:blip r:embed="rId6">
            <a:alphaModFix/>
          </a:blip>
          <a:srcRect/>
          <a:stretch/>
        </p:blipFill>
        <p:spPr>
          <a:xfrm>
            <a:off x="571500" y="3128962"/>
            <a:ext cx="171450" cy="200025"/>
          </a:xfrm>
          <a:prstGeom prst="rect">
            <a:avLst/>
          </a:prstGeom>
          <a:noFill/>
          <a:ln>
            <a:noFill/>
          </a:ln>
        </p:spPr>
      </p:pic>
      <p:pic>
        <p:nvPicPr>
          <p:cNvPr id="103" name="Google Shape;103;p14" descr="image.png"/>
          <p:cNvPicPr preferRelativeResize="0"/>
          <p:nvPr/>
        </p:nvPicPr>
        <p:blipFill rotWithShape="1">
          <a:blip r:embed="rId6">
            <a:alphaModFix/>
          </a:blip>
          <a:srcRect/>
          <a:stretch/>
        </p:blipFill>
        <p:spPr>
          <a:xfrm>
            <a:off x="571500" y="4233862"/>
            <a:ext cx="171450" cy="200025"/>
          </a:xfrm>
          <a:prstGeom prst="rect">
            <a:avLst/>
          </a:prstGeom>
          <a:noFill/>
          <a:ln>
            <a:noFill/>
          </a:ln>
        </p:spPr>
      </p:pic>
      <p:pic>
        <p:nvPicPr>
          <p:cNvPr id="104" name="Google Shape;104;p14" descr="image.png"/>
          <p:cNvPicPr preferRelativeResize="0"/>
          <p:nvPr/>
        </p:nvPicPr>
        <p:blipFill rotWithShape="1">
          <a:blip r:embed="rId6">
            <a:alphaModFix/>
          </a:blip>
          <a:srcRect/>
          <a:stretch/>
        </p:blipFill>
        <p:spPr>
          <a:xfrm>
            <a:off x="571500" y="5033962"/>
            <a:ext cx="17145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
        <p:cNvGrpSpPr/>
        <p:nvPr/>
      </p:nvGrpSpPr>
      <p:grpSpPr>
        <a:xfrm>
          <a:off x="0" y="0"/>
          <a:ext cx="0" cy="0"/>
          <a:chOff x="0" y="0"/>
          <a:chExt cx="0" cy="0"/>
        </a:xfrm>
      </p:grpSpPr>
      <p:pic>
        <p:nvPicPr>
          <p:cNvPr id="109" name="Google Shape;10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571500" y="1909762"/>
            <a:ext cx="3429000" cy="4000500"/>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4381500" y="1909762"/>
            <a:ext cx="3429000" cy="4000500"/>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8191500" y="1909762"/>
            <a:ext cx="3429000" cy="4000500"/>
          </a:xfrm>
          <a:prstGeom prst="rect">
            <a:avLst/>
          </a:prstGeom>
          <a:noFill/>
          <a:ln>
            <a:noFill/>
          </a:ln>
        </p:spPr>
      </p:pic>
      <p:pic>
        <p:nvPicPr>
          <p:cNvPr id="113" name="Google Shape;113;p15" descr="image.png"/>
          <p:cNvPicPr preferRelativeResize="0"/>
          <p:nvPr/>
        </p:nvPicPr>
        <p:blipFill rotWithShape="1">
          <a:blip r:embed="rId7">
            <a:alphaModFix/>
          </a:blip>
          <a:srcRect/>
          <a:stretch/>
        </p:blipFill>
        <p:spPr>
          <a:xfrm>
            <a:off x="1809750" y="2300287"/>
            <a:ext cx="952500" cy="952500"/>
          </a:xfrm>
          <a:prstGeom prst="rect">
            <a:avLst/>
          </a:prstGeom>
          <a:noFill/>
          <a:ln>
            <a:noFill/>
          </a:ln>
        </p:spPr>
      </p:pic>
      <p:sp>
        <p:nvSpPr>
          <p:cNvPr id="114" name="Google Shape;114;p15"/>
          <p:cNvSpPr txBox="1"/>
          <p:nvPr/>
        </p:nvSpPr>
        <p:spPr>
          <a:xfrm>
            <a:off x="1275873" y="3490912"/>
            <a:ext cx="2020252"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F172A"/>
                </a:solidFill>
                <a:latin typeface="Plus Jakarta Sans SemiBold"/>
                <a:ea typeface="Plus Jakarta Sans SemiBold"/>
                <a:cs typeface="Plus Jakarta Sans SemiBold"/>
                <a:sym typeface="Plus Jakarta Sans SemiBold"/>
              </a:rPr>
              <a:t>Android Studio</a:t>
            </a:r>
            <a:endParaRPr/>
          </a:p>
        </p:txBody>
      </p:sp>
      <p:sp>
        <p:nvSpPr>
          <p:cNvPr id="115" name="Google Shape;115;p15"/>
          <p:cNvSpPr txBox="1"/>
          <p:nvPr/>
        </p:nvSpPr>
        <p:spPr>
          <a:xfrm>
            <a:off x="866775" y="4157662"/>
            <a:ext cx="28384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Môi trường phát triển IDE chính thức. Thiết kế giao diện bằng XML chuẩn Material Design.</a:t>
            </a:r>
            <a:endParaRPr/>
          </a:p>
        </p:txBody>
      </p:sp>
      <p:pic>
        <p:nvPicPr>
          <p:cNvPr id="116" name="Google Shape;116;p15" descr="image.png"/>
          <p:cNvPicPr preferRelativeResize="0"/>
          <p:nvPr/>
        </p:nvPicPr>
        <p:blipFill rotWithShape="1">
          <a:blip r:embed="rId8">
            <a:alphaModFix/>
          </a:blip>
          <a:srcRect/>
          <a:stretch/>
        </p:blipFill>
        <p:spPr>
          <a:xfrm>
            <a:off x="5619750" y="2300287"/>
            <a:ext cx="952500" cy="952500"/>
          </a:xfrm>
          <a:prstGeom prst="rect">
            <a:avLst/>
          </a:prstGeom>
          <a:noFill/>
          <a:ln>
            <a:noFill/>
          </a:ln>
        </p:spPr>
      </p:pic>
      <p:sp>
        <p:nvSpPr>
          <p:cNvPr id="117" name="Google Shape;117;p15"/>
          <p:cNvSpPr txBox="1"/>
          <p:nvPr/>
        </p:nvSpPr>
        <p:spPr>
          <a:xfrm>
            <a:off x="5110876" y="3490912"/>
            <a:ext cx="1970246"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F172A"/>
                </a:solidFill>
                <a:latin typeface="Plus Jakarta Sans SemiBold"/>
                <a:ea typeface="Plus Jakarta Sans SemiBold"/>
                <a:cs typeface="Plus Jakarta Sans SemiBold"/>
                <a:sym typeface="Plus Jakarta Sans SemiBold"/>
              </a:rPr>
              <a:t>Ngôn Ngữ Java</a:t>
            </a:r>
            <a:endParaRPr/>
          </a:p>
        </p:txBody>
      </p:sp>
      <p:sp>
        <p:nvSpPr>
          <p:cNvPr id="118" name="Google Shape;118;p15"/>
          <p:cNvSpPr txBox="1"/>
          <p:nvPr/>
        </p:nvSpPr>
        <p:spPr>
          <a:xfrm>
            <a:off x="4676775" y="4157662"/>
            <a:ext cx="28384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Xử lý toàn bộ logic nghiệp vụ, luồng dữ liệu, và bắt các sự kiện tương tác của người dùng.</a:t>
            </a:r>
            <a:endParaRPr/>
          </a:p>
        </p:txBody>
      </p:sp>
      <p:pic>
        <p:nvPicPr>
          <p:cNvPr id="119" name="Google Shape;119;p15" descr="image.png"/>
          <p:cNvPicPr preferRelativeResize="0"/>
          <p:nvPr/>
        </p:nvPicPr>
        <p:blipFill rotWithShape="1">
          <a:blip r:embed="rId9">
            <a:alphaModFix/>
          </a:blip>
          <a:srcRect/>
          <a:stretch/>
        </p:blipFill>
        <p:spPr>
          <a:xfrm>
            <a:off x="9429750" y="2300287"/>
            <a:ext cx="952500" cy="952500"/>
          </a:xfrm>
          <a:prstGeom prst="rect">
            <a:avLst/>
          </a:prstGeom>
          <a:noFill/>
          <a:ln>
            <a:noFill/>
          </a:ln>
        </p:spPr>
      </p:pic>
      <p:sp>
        <p:nvSpPr>
          <p:cNvPr id="120" name="Google Shape;120;p15"/>
          <p:cNvSpPr txBox="1"/>
          <p:nvPr/>
        </p:nvSpPr>
        <p:spPr>
          <a:xfrm>
            <a:off x="9325927" y="3490912"/>
            <a:ext cx="11601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F172A"/>
                </a:solidFill>
                <a:latin typeface="Plus Jakarta Sans SemiBold"/>
                <a:ea typeface="Plus Jakarta Sans SemiBold"/>
                <a:cs typeface="Plus Jakarta Sans SemiBold"/>
                <a:sym typeface="Plus Jakarta Sans SemiBold"/>
              </a:rPr>
              <a:t>Firebase</a:t>
            </a:r>
            <a:endParaRPr/>
          </a:p>
        </p:txBody>
      </p:sp>
      <p:sp>
        <p:nvSpPr>
          <p:cNvPr id="121" name="Google Shape;121;p15"/>
          <p:cNvSpPr txBox="1"/>
          <p:nvPr/>
        </p:nvSpPr>
        <p:spPr>
          <a:xfrm>
            <a:off x="8486775" y="4157662"/>
            <a:ext cx="283845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Cơ sở dữ liệu đám mây của Google, lưu trữ thông tin và đồng bộ hóa điểm số thời gian thực.</a:t>
            </a:r>
            <a:endParaRPr/>
          </a:p>
        </p:txBody>
      </p:sp>
      <p:pic>
        <p:nvPicPr>
          <p:cNvPr id="122" name="Google Shape;122;p15" descr="image.png"/>
          <p:cNvPicPr preferRelativeResize="0"/>
          <p:nvPr/>
        </p:nvPicPr>
        <p:blipFill rotWithShape="1">
          <a:blip r:embed="rId10">
            <a:alphaModFix/>
          </a:blip>
          <a:srcRect/>
          <a:stretch/>
        </p:blipFill>
        <p:spPr>
          <a:xfrm>
            <a:off x="1985962" y="2509837"/>
            <a:ext cx="600075" cy="533400"/>
          </a:xfrm>
          <a:prstGeom prst="rect">
            <a:avLst/>
          </a:prstGeom>
          <a:noFill/>
          <a:ln>
            <a:noFill/>
          </a:ln>
        </p:spPr>
      </p:pic>
      <p:pic>
        <p:nvPicPr>
          <p:cNvPr id="123" name="Google Shape;123;p15" descr="image.png"/>
          <p:cNvPicPr preferRelativeResize="0"/>
          <p:nvPr/>
        </p:nvPicPr>
        <p:blipFill rotWithShape="1">
          <a:blip r:embed="rId11">
            <a:alphaModFix/>
          </a:blip>
          <a:srcRect/>
          <a:stretch/>
        </p:blipFill>
        <p:spPr>
          <a:xfrm>
            <a:off x="5895975" y="2509837"/>
            <a:ext cx="400050" cy="533400"/>
          </a:xfrm>
          <a:prstGeom prst="rect">
            <a:avLst/>
          </a:prstGeom>
          <a:noFill/>
          <a:ln>
            <a:noFill/>
          </a:ln>
        </p:spPr>
      </p:pic>
      <p:pic>
        <p:nvPicPr>
          <p:cNvPr id="124" name="Google Shape;124;p15" descr="image.png"/>
          <p:cNvPicPr preferRelativeResize="0"/>
          <p:nvPr/>
        </p:nvPicPr>
        <p:blipFill rotWithShape="1">
          <a:blip r:embed="rId12">
            <a:alphaModFix/>
          </a:blip>
          <a:srcRect/>
          <a:stretch/>
        </p:blipFill>
        <p:spPr>
          <a:xfrm>
            <a:off x="9572625" y="2509837"/>
            <a:ext cx="666750" cy="533400"/>
          </a:xfrm>
          <a:prstGeom prst="rect">
            <a:avLst/>
          </a:prstGeom>
          <a:noFill/>
          <a:ln>
            <a:noFill/>
          </a:ln>
        </p:spPr>
      </p:pic>
      <p:sp>
        <p:nvSpPr>
          <p:cNvPr id="125" name="Google Shape;125;p15"/>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Công Nghệ </a:t>
            </a:r>
            <a:r>
              <a:rPr lang="en-US" sz="3600" b="0" i="0" u="none" strike="noStrike" cap="none">
                <a:solidFill>
                  <a:srgbClr val="2563EB"/>
                </a:solidFill>
                <a:latin typeface="Plus Jakarta Sans ExtraBold"/>
                <a:ea typeface="Plus Jakarta Sans ExtraBold"/>
                <a:cs typeface="Plus Jakarta Sans ExtraBold"/>
                <a:sym typeface="Plus Jakarta Sans ExtraBold"/>
              </a:rPr>
              <a:t>Sử Dụng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pic>
        <p:nvPicPr>
          <p:cNvPr id="130" name="Google Shape;13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1" name="Google Shape;131;p16"/>
          <p:cNvSpPr txBox="1"/>
          <p:nvPr/>
        </p:nvSpPr>
        <p:spPr>
          <a:xfrm>
            <a:off x="571500" y="571500"/>
            <a:ext cx="5500687"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Thiết Kế </a:t>
            </a:r>
            <a:r>
              <a:rPr lang="en-US" sz="3600" b="0" i="0" u="none" strike="noStrike" cap="none">
                <a:solidFill>
                  <a:srgbClr val="2563EB"/>
                </a:solidFill>
                <a:latin typeface="Plus Jakarta Sans ExtraBold"/>
                <a:ea typeface="Plus Jakarta Sans ExtraBold"/>
                <a:cs typeface="Plus Jakarta Sans ExtraBold"/>
                <a:sym typeface="Plus Jakarta Sans ExtraBold"/>
              </a:rPr>
              <a:t>Database</a:t>
            </a:r>
            <a:endParaRPr/>
          </a:p>
        </p:txBody>
      </p:sp>
      <p:pic>
        <p:nvPicPr>
          <p:cNvPr id="132" name="Google Shape;132;p16" descr="image.png"/>
          <p:cNvPicPr preferRelativeResize="0"/>
          <p:nvPr/>
        </p:nvPicPr>
        <p:blipFill rotWithShape="1">
          <a:blip r:embed="rId4">
            <a:alphaModFix/>
          </a:blip>
          <a:srcRect/>
          <a:stretch/>
        </p:blipFill>
        <p:spPr>
          <a:xfrm>
            <a:off x="6381750" y="0"/>
            <a:ext cx="5810250" cy="6858000"/>
          </a:xfrm>
          <a:prstGeom prst="rect">
            <a:avLst/>
          </a:prstGeom>
          <a:noFill/>
          <a:ln>
            <a:noFill/>
          </a:ln>
        </p:spPr>
      </p:pic>
      <p:sp>
        <p:nvSpPr>
          <p:cNvPr id="133" name="Google Shape;133;p16"/>
          <p:cNvSpPr txBox="1"/>
          <p:nvPr/>
        </p:nvSpPr>
        <p:spPr>
          <a:xfrm>
            <a:off x="571500" y="1695450"/>
            <a:ext cx="550068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Plus Jakarta Sans SemiBold"/>
                <a:ea typeface="Plus Jakarta Sans SemiBold"/>
                <a:cs typeface="Plus Jakarta Sans SemiBold"/>
                <a:sym typeface="Plus Jakarta Sans SemiBold"/>
              </a:rPr>
              <a:t>Firebase Realtime Database</a:t>
            </a:r>
            <a:endParaRPr/>
          </a:p>
        </p:txBody>
      </p:sp>
      <p:sp>
        <p:nvSpPr>
          <p:cNvPr id="134" name="Google Shape;134;p16"/>
          <p:cNvSpPr txBox="1"/>
          <p:nvPr/>
        </p:nvSpPr>
        <p:spPr>
          <a:xfrm>
            <a:off x="571500" y="2362200"/>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Hệ thống không sử dụng CSDL Quan hệ (SQL) truyền thống, thay vào đó áp dụng cấu trúc NoSQL lưu trữ dạng cây JSON để tối ưu cho Mobile.</a:t>
            </a:r>
            <a:endParaRPr/>
          </a:p>
        </p:txBody>
      </p:sp>
      <p:sp>
        <p:nvSpPr>
          <p:cNvPr id="135" name="Google Shape;135;p16"/>
          <p:cNvSpPr txBox="1"/>
          <p:nvPr/>
        </p:nvSpPr>
        <p:spPr>
          <a:xfrm>
            <a:off x="857250" y="35718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Cấu trúc phân cấp:</a:t>
            </a:r>
            <a:r>
              <a:rPr lang="en-US" sz="1500" b="0" i="0" u="none" strike="noStrike" cap="none">
                <a:solidFill>
                  <a:srgbClr val="475569"/>
                </a:solidFill>
                <a:latin typeface="Inter"/>
                <a:ea typeface="Inter"/>
                <a:cs typeface="Inter"/>
                <a:sym typeface="Inter"/>
              </a:rPr>
              <a:t> Sinh Viên → Mã SV → Năm Học → Học Kỳ.</a:t>
            </a:r>
            <a:endParaRPr/>
          </a:p>
        </p:txBody>
      </p:sp>
      <p:sp>
        <p:nvSpPr>
          <p:cNvPr id="136" name="Google Shape;136;p16"/>
          <p:cNvSpPr txBox="1"/>
          <p:nvPr/>
        </p:nvSpPr>
        <p:spPr>
          <a:xfrm>
            <a:off x="857250" y="43719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Truy xuất tối ưu:</a:t>
            </a:r>
            <a:r>
              <a:rPr lang="en-US" sz="1500" b="0" i="0" u="none" strike="noStrike" cap="none">
                <a:solidFill>
                  <a:srgbClr val="475569"/>
                </a:solidFill>
                <a:latin typeface="Inter"/>
                <a:ea typeface="Inter"/>
                <a:cs typeface="Inter"/>
                <a:sym typeface="Inter"/>
              </a:rPr>
              <a:t> Hệ thống gọi đích danh đường dẫn cần tìm, tiết kiệm băng thông mạng.</a:t>
            </a:r>
            <a:endParaRPr/>
          </a:p>
        </p:txBody>
      </p:sp>
      <p:sp>
        <p:nvSpPr>
          <p:cNvPr id="137" name="Google Shape;137;p16"/>
          <p:cNvSpPr txBox="1"/>
          <p:nvPr/>
        </p:nvSpPr>
        <p:spPr>
          <a:xfrm>
            <a:off x="857250" y="5172075"/>
            <a:ext cx="49530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475569"/>
                </a:solidFill>
                <a:latin typeface="Inter"/>
                <a:ea typeface="Inter"/>
                <a:cs typeface="Inter"/>
                <a:sym typeface="Inter"/>
              </a:rPr>
              <a:t>Realtime:</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Điểm</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số</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được</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giảng</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viên</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cập</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nhật</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sẽ</a:t>
            </a:r>
            <a:r>
              <a:rPr lang="en-US" sz="1500" b="0" i="0" u="none" strike="noStrike" cap="none" dirty="0">
                <a:solidFill>
                  <a:srgbClr val="475569"/>
                </a:solidFill>
                <a:latin typeface="Inter"/>
                <a:ea typeface="Inter"/>
                <a:cs typeface="Inter"/>
                <a:sym typeface="Inter"/>
              </a:rPr>
              <a:t> </a:t>
            </a:r>
            <a:r>
              <a:rPr lang="en-US" sz="1500" dirty="0" err="1">
                <a:solidFill>
                  <a:srgbClr val="475569"/>
                </a:solidFill>
                <a:latin typeface="Inter"/>
                <a:ea typeface="Inter"/>
                <a:cs typeface="Inter"/>
                <a:sym typeface="Inter"/>
              </a:rPr>
              <a:t>trực</a:t>
            </a:r>
            <a:r>
              <a:rPr lang="en-US" sz="1500" dirty="0">
                <a:solidFill>
                  <a:srgbClr val="475569"/>
                </a:solidFill>
                <a:latin typeface="Inter"/>
                <a:ea typeface="Inter"/>
                <a:cs typeface="Inter"/>
                <a:sym typeface="Inter"/>
              </a:rPr>
              <a:t> </a:t>
            </a:r>
            <a:r>
              <a:rPr lang="en-US" sz="1500" dirty="0" err="1">
                <a:solidFill>
                  <a:srgbClr val="475569"/>
                </a:solidFill>
                <a:latin typeface="Inter"/>
                <a:ea typeface="Inter"/>
                <a:cs typeface="Inter"/>
                <a:sym typeface="Inter"/>
              </a:rPr>
              <a:t>tiếp</a:t>
            </a:r>
            <a:r>
              <a:rPr lang="en-US" sz="1500" dirty="0">
                <a:solidFill>
                  <a:srgbClr val="475569"/>
                </a:solidFill>
                <a:latin typeface="Inter"/>
                <a:ea typeface="Inter"/>
                <a:cs typeface="Inter"/>
                <a:sym typeface="Inter"/>
              </a:rPr>
              <a:t> </a:t>
            </a:r>
            <a:r>
              <a:rPr lang="en-US" sz="1500" dirty="0" err="1">
                <a:solidFill>
                  <a:srgbClr val="475569"/>
                </a:solidFill>
                <a:latin typeface="Inter"/>
                <a:ea typeface="Inter"/>
                <a:cs typeface="Inter"/>
                <a:sym typeface="Inter"/>
              </a:rPr>
              <a:t>hiện</a:t>
            </a:r>
            <a:r>
              <a:rPr lang="en-US" sz="1500"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ngay</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trên</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màn</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hình</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sinh</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viên</a:t>
            </a:r>
            <a:r>
              <a:rPr lang="en-US" sz="1500" dirty="0">
                <a:solidFill>
                  <a:srgbClr val="475569"/>
                </a:solidFill>
                <a:latin typeface="Inter"/>
                <a:ea typeface="Inter"/>
                <a:cs typeface="Inter"/>
                <a:sym typeface="Inter"/>
              </a:rPr>
              <a:t>.</a:t>
            </a:r>
            <a:endParaRPr dirty="0"/>
          </a:p>
        </p:txBody>
      </p:sp>
      <p:pic>
        <p:nvPicPr>
          <p:cNvPr id="138" name="Google Shape;138;p16" descr="image.png"/>
          <p:cNvPicPr preferRelativeResize="0"/>
          <p:nvPr/>
        </p:nvPicPr>
        <p:blipFill rotWithShape="1">
          <a:blip r:embed="rId5">
            <a:alphaModFix/>
          </a:blip>
          <a:srcRect/>
          <a:stretch/>
        </p:blipFill>
        <p:spPr>
          <a:xfrm>
            <a:off x="571500" y="3590925"/>
            <a:ext cx="114300" cy="200025"/>
          </a:xfrm>
          <a:prstGeom prst="rect">
            <a:avLst/>
          </a:prstGeom>
          <a:noFill/>
          <a:ln>
            <a:noFill/>
          </a:ln>
        </p:spPr>
      </p:pic>
      <p:pic>
        <p:nvPicPr>
          <p:cNvPr id="139" name="Google Shape;139;p16" descr="image.png"/>
          <p:cNvPicPr preferRelativeResize="0"/>
          <p:nvPr/>
        </p:nvPicPr>
        <p:blipFill rotWithShape="1">
          <a:blip r:embed="rId5">
            <a:alphaModFix/>
          </a:blip>
          <a:srcRect/>
          <a:stretch/>
        </p:blipFill>
        <p:spPr>
          <a:xfrm>
            <a:off x="571500" y="4391025"/>
            <a:ext cx="114300" cy="200025"/>
          </a:xfrm>
          <a:prstGeom prst="rect">
            <a:avLst/>
          </a:prstGeom>
          <a:noFill/>
          <a:ln>
            <a:noFill/>
          </a:ln>
        </p:spPr>
      </p:pic>
      <p:pic>
        <p:nvPicPr>
          <p:cNvPr id="140" name="Google Shape;140;p16" descr="image.png"/>
          <p:cNvPicPr preferRelativeResize="0"/>
          <p:nvPr/>
        </p:nvPicPr>
        <p:blipFill rotWithShape="1">
          <a:blip r:embed="rId5">
            <a:alphaModFix/>
          </a:blip>
          <a:srcRect/>
          <a:stretch/>
        </p:blipFill>
        <p:spPr>
          <a:xfrm>
            <a:off x="571500" y="5191125"/>
            <a:ext cx="11430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pic>
        <p:nvPicPr>
          <p:cNvPr id="145" name="Google Shape;14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6" name="Google Shape;146;p17" descr="image.png"/>
          <p:cNvPicPr preferRelativeResize="0"/>
          <p:nvPr/>
        </p:nvPicPr>
        <p:blipFill rotWithShape="1">
          <a:blip r:embed="rId4">
            <a:alphaModFix/>
          </a:blip>
          <a:srcRect/>
          <a:stretch/>
        </p:blipFill>
        <p:spPr>
          <a:xfrm>
            <a:off x="571500" y="1943100"/>
            <a:ext cx="5238750" cy="3933825"/>
          </a:xfrm>
          <a:prstGeom prst="rect">
            <a:avLst/>
          </a:prstGeom>
          <a:noFill/>
          <a:ln>
            <a:noFill/>
          </a:ln>
        </p:spPr>
      </p:pic>
      <p:pic>
        <p:nvPicPr>
          <p:cNvPr id="147" name="Google Shape;147;p17" descr="image.png"/>
          <p:cNvPicPr preferRelativeResize="0"/>
          <p:nvPr/>
        </p:nvPicPr>
        <p:blipFill rotWithShape="1">
          <a:blip r:embed="rId5">
            <a:alphaModFix/>
          </a:blip>
          <a:srcRect/>
          <a:stretch/>
        </p:blipFill>
        <p:spPr>
          <a:xfrm>
            <a:off x="6381750" y="1943100"/>
            <a:ext cx="5238750" cy="3933825"/>
          </a:xfrm>
          <a:prstGeom prst="rect">
            <a:avLst/>
          </a:prstGeom>
          <a:noFill/>
          <a:ln>
            <a:noFill/>
          </a:ln>
        </p:spPr>
      </p:pic>
      <p:sp>
        <p:nvSpPr>
          <p:cNvPr id="148" name="Google Shape;148;p17"/>
          <p:cNvSpPr txBox="1"/>
          <p:nvPr/>
        </p:nvSpPr>
        <p:spPr>
          <a:xfrm>
            <a:off x="962025" y="2333625"/>
            <a:ext cx="4680585"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lus Jakarta Sans SemiBold"/>
                <a:ea typeface="Plus Jakarta Sans SemiBold"/>
                <a:cs typeface="Plus Jakarta Sans SemiBold"/>
                <a:sym typeface="Plus Jakarta Sans SemiBold"/>
              </a:rPr>
              <a:t>1. Thao Tác Tối Giản</a:t>
            </a:r>
            <a:endParaRPr/>
          </a:p>
        </p:txBody>
      </p:sp>
      <p:sp>
        <p:nvSpPr>
          <p:cNvPr id="149" name="Google Shape;149;p17"/>
          <p:cNvSpPr/>
          <p:nvPr/>
        </p:nvSpPr>
        <p:spPr>
          <a:xfrm>
            <a:off x="962025" y="2809875"/>
            <a:ext cx="44577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7"/>
          <p:cNvSpPr txBox="1"/>
          <p:nvPr/>
        </p:nvSpPr>
        <p:spPr>
          <a:xfrm>
            <a:off x="962025" y="3019425"/>
            <a:ext cx="44577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75569"/>
                </a:solidFill>
                <a:latin typeface="Inter"/>
                <a:ea typeface="Inter"/>
                <a:cs typeface="Inter"/>
                <a:sym typeface="Inter"/>
              </a:rPr>
              <a:t>Sinh </a:t>
            </a:r>
            <a:r>
              <a:rPr lang="en-US" sz="1500" b="0" i="0" u="none" strike="noStrike" cap="none" dirty="0" err="1">
                <a:solidFill>
                  <a:srgbClr val="475569"/>
                </a:solidFill>
                <a:latin typeface="Inter"/>
                <a:ea typeface="Inter"/>
                <a:cs typeface="Inter"/>
                <a:sym typeface="Inter"/>
              </a:rPr>
              <a:t>viên</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chỉ</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cần</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nhập</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Mã</a:t>
            </a:r>
            <a:r>
              <a:rPr lang="en-US" sz="1500" b="0" i="0" u="none" strike="noStrike" cap="none" dirty="0">
                <a:solidFill>
                  <a:srgbClr val="475569"/>
                </a:solidFill>
                <a:latin typeface="Inter"/>
                <a:ea typeface="Inter"/>
                <a:cs typeface="Inter"/>
                <a:sym typeface="Inter"/>
              </a:rPr>
              <a:t> Sinh Viên, </a:t>
            </a:r>
            <a:r>
              <a:rPr lang="en-US" sz="1500" b="0" i="0" u="none" strike="noStrike" cap="none" dirty="0" err="1">
                <a:solidFill>
                  <a:srgbClr val="475569"/>
                </a:solidFill>
                <a:latin typeface="Inter"/>
                <a:ea typeface="Inter"/>
                <a:cs typeface="Inter"/>
                <a:sym typeface="Inter"/>
              </a:rPr>
              <a:t>chọn</a:t>
            </a:r>
            <a:r>
              <a:rPr lang="en-US" sz="1500" b="0" i="0" u="none" strike="noStrike" cap="none" dirty="0">
                <a:solidFill>
                  <a:srgbClr val="475569"/>
                </a:solidFill>
                <a:latin typeface="Inter"/>
                <a:ea typeface="Inter"/>
                <a:cs typeface="Inter"/>
                <a:sym typeface="Inter"/>
              </a:rPr>
              <a:t> Năm </a:t>
            </a:r>
            <a:r>
              <a:rPr lang="en-US" sz="1500" b="0" i="0" u="none" strike="noStrike" cap="none" dirty="0" err="1">
                <a:solidFill>
                  <a:srgbClr val="475569"/>
                </a:solidFill>
                <a:latin typeface="Inter"/>
                <a:ea typeface="Inter"/>
                <a:cs typeface="Inter"/>
                <a:sym typeface="Inter"/>
              </a:rPr>
              <a:t>học</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và</a:t>
            </a:r>
            <a:r>
              <a:rPr lang="en-US" sz="1500" b="0" i="0" u="none" strike="noStrike" cap="none" dirty="0">
                <a:solidFill>
                  <a:srgbClr val="475569"/>
                </a:solidFill>
                <a:latin typeface="Inter"/>
                <a:ea typeface="Inter"/>
                <a:cs typeface="Inter"/>
                <a:sym typeface="Inter"/>
              </a:rPr>
              <a:t> Học </a:t>
            </a:r>
            <a:r>
              <a:rPr lang="en-US" sz="1500" b="0" i="0" u="none" strike="noStrike" cap="none" dirty="0" err="1">
                <a:solidFill>
                  <a:srgbClr val="475569"/>
                </a:solidFill>
                <a:latin typeface="Inter"/>
                <a:ea typeface="Inter"/>
                <a:cs typeface="Inter"/>
                <a:sym typeface="Inter"/>
              </a:rPr>
              <a:t>kỳ</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thông</a:t>
            </a:r>
            <a:r>
              <a:rPr lang="en-US" sz="1500" b="0" i="0" u="none" strike="noStrike" cap="none" dirty="0">
                <a:solidFill>
                  <a:srgbClr val="475569"/>
                </a:solidFill>
                <a:latin typeface="Inter"/>
                <a:ea typeface="Inter"/>
                <a:cs typeface="Inter"/>
                <a:sym typeface="Inter"/>
              </a:rPr>
              <a:t> qua </a:t>
            </a:r>
            <a:r>
              <a:rPr lang="en-US" sz="1500" b="0" i="0" u="none" strike="noStrike" cap="none" dirty="0" err="1">
                <a:solidFill>
                  <a:srgbClr val="475569"/>
                </a:solidFill>
                <a:latin typeface="Inter"/>
                <a:ea typeface="Inter"/>
                <a:cs typeface="Inter"/>
                <a:sym typeface="Inter"/>
              </a:rPr>
              <a:t>thanh</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thả</a:t>
            </a:r>
            <a:r>
              <a:rPr lang="en-US" sz="1500" b="0" i="0" u="none" strike="noStrike" cap="none" dirty="0">
                <a:solidFill>
                  <a:srgbClr val="475569"/>
                </a:solidFill>
                <a:latin typeface="Inter"/>
                <a:ea typeface="Inter"/>
                <a:cs typeface="Inter"/>
                <a:sym typeface="Inter"/>
              </a:rPr>
              <a:t> </a:t>
            </a:r>
            <a:r>
              <a:rPr lang="en-US" sz="1500" b="0" i="0" u="none" strike="noStrike" cap="none" dirty="0" err="1">
                <a:solidFill>
                  <a:srgbClr val="475569"/>
                </a:solidFill>
                <a:latin typeface="Inter"/>
                <a:ea typeface="Inter"/>
                <a:cs typeface="Inter"/>
                <a:sym typeface="Inter"/>
              </a:rPr>
              <a:t>xuống</a:t>
            </a:r>
            <a:r>
              <a:rPr lang="en-US" sz="1500" b="0" i="0" u="none" strike="noStrike" cap="none" dirty="0">
                <a:solidFill>
                  <a:srgbClr val="475569"/>
                </a:solidFill>
                <a:latin typeface="Inter"/>
                <a:ea typeface="Inter"/>
                <a:cs typeface="Inter"/>
                <a:sym typeface="Inter"/>
              </a:rPr>
              <a:t> (Spinner).</a:t>
            </a:r>
            <a:endParaRPr dirty="0"/>
          </a:p>
        </p:txBody>
      </p:sp>
      <p:sp>
        <p:nvSpPr>
          <p:cNvPr id="152" name="Google Shape;152;p17"/>
          <p:cNvSpPr txBox="1"/>
          <p:nvPr/>
        </p:nvSpPr>
        <p:spPr>
          <a:xfrm>
            <a:off x="6772275" y="2333625"/>
            <a:ext cx="4680585"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lus Jakarta Sans SemiBold"/>
                <a:ea typeface="Plus Jakarta Sans SemiBold"/>
                <a:cs typeface="Plus Jakarta Sans SemiBold"/>
                <a:sym typeface="Plus Jakarta Sans SemiBold"/>
              </a:rPr>
              <a:t>2. Xử Lý Thông Minh</a:t>
            </a:r>
            <a:endParaRPr/>
          </a:p>
        </p:txBody>
      </p:sp>
      <p:sp>
        <p:nvSpPr>
          <p:cNvPr id="153" name="Google Shape;153;p17"/>
          <p:cNvSpPr/>
          <p:nvPr/>
        </p:nvSpPr>
        <p:spPr>
          <a:xfrm>
            <a:off x="6772275" y="2809875"/>
            <a:ext cx="44577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7"/>
          <p:cNvSpPr txBox="1"/>
          <p:nvPr/>
        </p:nvSpPr>
        <p:spPr>
          <a:xfrm>
            <a:off x="6772275" y="3019425"/>
            <a:ext cx="44577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Tích hợp cơ chế Validate dữ liệu đầu vào. Hệ thống sử dụng Biểu thức chính quy (Regex) bắt buộc định dạng chữ A theo sau là 5 chữ số (VD: A48546).</a:t>
            </a:r>
            <a:endParaRPr/>
          </a:p>
        </p:txBody>
      </p:sp>
      <p:sp>
        <p:nvSpPr>
          <p:cNvPr id="156" name="Google Shape;156;p17"/>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Module Tra Cứu </a:t>
            </a:r>
            <a:r>
              <a:rPr lang="en-US" sz="3600" b="0" i="0" u="none" strike="noStrike" cap="none">
                <a:solidFill>
                  <a:srgbClr val="2563EB"/>
                </a:solidFill>
                <a:latin typeface="Plus Jakarta Sans ExtraBold"/>
                <a:ea typeface="Plus Jakarta Sans ExtraBold"/>
                <a:cs typeface="Plus Jakarta Sans ExtraBold"/>
                <a:sym typeface="Plus Jakarta Sans ExtraBold"/>
              </a:rPr>
              <a:t>(Sinh Viên)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8"/>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0F172A"/>
                </a:solidFill>
                <a:latin typeface="Plus Jakarta Sans ExtraBold"/>
                <a:ea typeface="Plus Jakarta Sans ExtraBold"/>
                <a:cs typeface="Plus Jakarta Sans ExtraBold"/>
                <a:sym typeface="Plus Jakarta Sans ExtraBold"/>
              </a:rPr>
              <a:t>Giao diện </a:t>
            </a:r>
            <a:r>
              <a:rPr lang="en-US" sz="3600" b="0" i="0" u="none" strike="noStrike" cap="none">
                <a:solidFill>
                  <a:srgbClr val="0F172A"/>
                </a:solidFill>
                <a:latin typeface="Plus Jakarta Sans ExtraBold"/>
                <a:ea typeface="Plus Jakarta Sans ExtraBold"/>
                <a:cs typeface="Plus Jakarta Sans ExtraBold"/>
                <a:sym typeface="Plus Jakarta Sans ExtraBold"/>
              </a:rPr>
              <a:t>Tra Cứu </a:t>
            </a:r>
            <a:r>
              <a:rPr lang="en-US" sz="3600" b="0" i="0" u="none" strike="noStrike" cap="none">
                <a:solidFill>
                  <a:srgbClr val="2563EB"/>
                </a:solidFill>
                <a:latin typeface="Plus Jakarta Sans ExtraBold"/>
                <a:ea typeface="Plus Jakarta Sans ExtraBold"/>
                <a:cs typeface="Plus Jakarta Sans ExtraBold"/>
                <a:sym typeface="Plus Jakarta Sans ExtraBold"/>
              </a:rPr>
              <a:t>(Sinh Viên)</a:t>
            </a:r>
            <a:endParaRPr/>
          </a:p>
        </p:txBody>
      </p:sp>
      <p:pic>
        <p:nvPicPr>
          <p:cNvPr id="162" name="Google Shape;162;p18"/>
          <p:cNvPicPr preferRelativeResize="0"/>
          <p:nvPr/>
        </p:nvPicPr>
        <p:blipFill rotWithShape="1">
          <a:blip r:embed="rId3">
            <a:alphaModFix/>
          </a:blip>
          <a:srcRect/>
          <a:stretch/>
        </p:blipFill>
        <p:spPr>
          <a:xfrm>
            <a:off x="686975" y="1262725"/>
            <a:ext cx="3380826" cy="5066801"/>
          </a:xfrm>
          <a:prstGeom prst="rect">
            <a:avLst/>
          </a:prstGeom>
          <a:noFill/>
          <a:ln>
            <a:noFill/>
          </a:ln>
        </p:spPr>
      </p:pic>
      <p:pic>
        <p:nvPicPr>
          <p:cNvPr id="163" name="Google Shape;163;p18"/>
          <p:cNvPicPr preferRelativeResize="0"/>
          <p:nvPr/>
        </p:nvPicPr>
        <p:blipFill>
          <a:blip r:embed="rId4">
            <a:alphaModFix/>
          </a:blip>
          <a:stretch>
            <a:fillRect/>
          </a:stretch>
        </p:blipFill>
        <p:spPr>
          <a:xfrm>
            <a:off x="6373826" y="1201300"/>
            <a:ext cx="3603196" cy="5427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pic>
        <p:nvPicPr>
          <p:cNvPr id="168" name="Google Shape;16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9" name="Google Shape;169;p19"/>
          <p:cNvSpPr txBox="1"/>
          <p:nvPr/>
        </p:nvSpPr>
        <p:spPr>
          <a:xfrm>
            <a:off x="6381750" y="2566987"/>
            <a:ext cx="550068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Plus Jakarta Sans SemiBold"/>
                <a:ea typeface="Plus Jakarta Sans SemiBold"/>
                <a:cs typeface="Plus Jakarta Sans SemiBold"/>
                <a:sym typeface="Plus Jakarta Sans SemiBold"/>
              </a:rPr>
              <a:t>Bảo Mật Khéo Léo</a:t>
            </a:r>
            <a:endParaRPr/>
          </a:p>
        </p:txBody>
      </p:sp>
      <p:sp>
        <p:nvSpPr>
          <p:cNvPr id="170" name="Google Shape;170;p19"/>
          <p:cNvSpPr txBox="1"/>
          <p:nvPr/>
        </p:nvSpPr>
        <p:spPr>
          <a:xfrm>
            <a:off x="6381750" y="3090862"/>
            <a:ext cx="52389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a:solidFill>
                  <a:srgbClr val="475569"/>
                </a:solidFill>
                <a:latin typeface="Inter"/>
                <a:ea typeface="Inter"/>
                <a:cs typeface="Inter"/>
                <a:sym typeface="Inter"/>
              </a:rPr>
              <a:t>N</a:t>
            </a:r>
            <a:r>
              <a:rPr lang="en-US" sz="1500" b="0" i="0" u="none" strike="noStrike" cap="none">
                <a:solidFill>
                  <a:srgbClr val="475569"/>
                </a:solidFill>
                <a:latin typeface="Inter"/>
                <a:ea typeface="Inter"/>
                <a:cs typeface="Inter"/>
                <a:sym typeface="Inter"/>
              </a:rPr>
              <a:t>út "Đăng nhập Giáo viên" hoàn toàn bị ẩn đi trên giao diện chính.</a:t>
            </a:r>
            <a:endParaRPr/>
          </a:p>
        </p:txBody>
      </p:sp>
      <p:sp>
        <p:nvSpPr>
          <p:cNvPr id="171" name="Google Shape;171;p19"/>
          <p:cNvSpPr txBox="1"/>
          <p:nvPr/>
        </p:nvSpPr>
        <p:spPr>
          <a:xfrm>
            <a:off x="6381750" y="3890962"/>
            <a:ext cx="5238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Giảng viên cần chạm liên tiếp 3 lần vào Tiêu đề ứng dụng trong 0.5 giây. Thuật toán sẽ tính toán thời gian và gọi Hộp thoại xác thực (Dialog). Sau khi nhập đúng tài khoản, màn hình nhập liệu Admin sẽ mở ra.</a:t>
            </a:r>
            <a:endParaRPr/>
          </a:p>
        </p:txBody>
      </p:sp>
      <p:sp>
        <p:nvSpPr>
          <p:cNvPr id="172" name="Google Shape;172;p19"/>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Cơ Chế </a:t>
            </a:r>
            <a:r>
              <a:rPr lang="en-US" sz="3600" b="0" i="0" u="none" strike="noStrike" cap="none">
                <a:solidFill>
                  <a:srgbClr val="2563EB"/>
                </a:solidFill>
                <a:latin typeface="Plus Jakarta Sans ExtraBold"/>
                <a:ea typeface="Plus Jakarta Sans ExtraBold"/>
                <a:cs typeface="Plus Jakarta Sans ExtraBold"/>
                <a:sym typeface="Plus Jakarta Sans ExtraBold"/>
              </a:rPr>
              <a:t>Easter Egg</a:t>
            </a:r>
            <a:r>
              <a:rPr lang="en-US" sz="3600" b="0" i="0" u="none" strike="noStrike" cap="none">
                <a:solidFill>
                  <a:srgbClr val="0F172A"/>
                </a:solidFill>
                <a:latin typeface="Plus Jakarta Sans ExtraBold"/>
                <a:ea typeface="Plus Jakarta Sans ExtraBold"/>
                <a:cs typeface="Plus Jakarta Sans ExtraBold"/>
                <a:sym typeface="Plus Jakarta Sans ExtraBold"/>
              </a:rPr>
              <a:t> (Admin)</a:t>
            </a:r>
            <a:endParaRPr/>
          </a:p>
        </p:txBody>
      </p:sp>
      <p:pic>
        <p:nvPicPr>
          <p:cNvPr id="173" name="Google Shape;173;p19"/>
          <p:cNvPicPr preferRelativeResize="0"/>
          <p:nvPr/>
        </p:nvPicPr>
        <p:blipFill>
          <a:blip r:embed="rId4">
            <a:alphaModFix/>
          </a:blip>
          <a:stretch>
            <a:fillRect/>
          </a:stretch>
        </p:blipFill>
        <p:spPr>
          <a:xfrm>
            <a:off x="996925" y="1274725"/>
            <a:ext cx="3898325" cy="5400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p:nvPr/>
        </p:nvSpPr>
        <p:spPr>
          <a:xfrm>
            <a:off x="0" y="0"/>
            <a:ext cx="8922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a:solidFill>
                  <a:srgbClr val="0F172A"/>
                </a:solidFill>
                <a:latin typeface="Plus Jakarta Sans ExtraBold"/>
                <a:ea typeface="Plus Jakarta Sans ExtraBold"/>
                <a:cs typeface="Plus Jakarta Sans ExtraBold"/>
                <a:sym typeface="Plus Jakarta Sans ExtraBold"/>
              </a:rPr>
              <a:t>Giao diện Quản trị </a:t>
            </a:r>
            <a:r>
              <a:rPr lang="en-US" sz="3600">
                <a:solidFill>
                  <a:srgbClr val="2563EB"/>
                </a:solidFill>
                <a:latin typeface="Plus Jakarta Sans ExtraBold"/>
                <a:ea typeface="Plus Jakarta Sans ExtraBold"/>
                <a:cs typeface="Plus Jakarta Sans ExtraBold"/>
                <a:sym typeface="Plus Jakarta Sans ExtraBold"/>
              </a:rPr>
              <a:t>(Giảng viên)</a:t>
            </a:r>
            <a:endParaRPr/>
          </a:p>
        </p:txBody>
      </p:sp>
      <p:pic>
        <p:nvPicPr>
          <p:cNvPr id="179" name="Google Shape;179;p20"/>
          <p:cNvPicPr preferRelativeResize="0"/>
          <p:nvPr/>
        </p:nvPicPr>
        <p:blipFill>
          <a:blip r:embed="rId3">
            <a:alphaModFix/>
          </a:blip>
          <a:stretch>
            <a:fillRect/>
          </a:stretch>
        </p:blipFill>
        <p:spPr>
          <a:xfrm>
            <a:off x="3848675" y="876025"/>
            <a:ext cx="3649611" cy="58142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3"/>
        <p:cNvGrpSpPr/>
        <p:nvPr/>
      </p:nvGrpSpPr>
      <p:grpSpPr>
        <a:xfrm>
          <a:off x="0" y="0"/>
          <a:ext cx="0" cy="0"/>
          <a:chOff x="0" y="0"/>
          <a:chExt cx="0" cy="0"/>
        </a:xfrm>
      </p:grpSpPr>
      <p:pic>
        <p:nvPicPr>
          <p:cNvPr id="184" name="Google Shape;18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5" name="Google Shape;185;p21"/>
          <p:cNvSpPr/>
          <p:nvPr/>
        </p:nvSpPr>
        <p:spPr>
          <a:xfrm>
            <a:off x="1809750" y="1331118"/>
            <a:ext cx="8572500" cy="1051321"/>
          </a:xfrm>
          <a:prstGeom prst="roundRect">
            <a:avLst>
              <a:gd name="adj" fmla="val 10872"/>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1"/>
          <p:cNvSpPr txBox="1"/>
          <p:nvPr/>
        </p:nvSpPr>
        <p:spPr>
          <a:xfrm>
            <a:off x="2381250" y="1521618"/>
            <a:ext cx="7810500" cy="8125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475569"/>
                </a:solidFill>
                <a:latin typeface="Inter"/>
                <a:ea typeface="Inter"/>
                <a:cs typeface="Inter"/>
                <a:sym typeface="Inter"/>
              </a:rPr>
              <a:t>Xây</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dựng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thành</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công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ứng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dụng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tra</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điểm</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với</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giao</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diện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trực</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quan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mượt</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mà</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và</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thao</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tác</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tiện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lợi</a:t>
            </a:r>
            <a:r>
              <a:rPr lang="en-US" sz="1650" b="0" i="0" u="none" strike="noStrike" cap="none" dirty="0">
                <a:solidFill>
                  <a:srgbClr val="475569"/>
                </a:solidFill>
                <a:latin typeface="Inter"/>
                <a:ea typeface="Inter"/>
                <a:cs typeface="Inter"/>
                <a:sym typeface="Inter"/>
              </a:rPr>
              <a:t>.</a:t>
            </a:r>
            <a:endParaRPr dirty="0"/>
          </a:p>
        </p:txBody>
      </p:sp>
      <p:sp>
        <p:nvSpPr>
          <p:cNvPr id="187" name="Google Shape;187;p21"/>
          <p:cNvSpPr/>
          <p:nvPr/>
        </p:nvSpPr>
        <p:spPr>
          <a:xfrm>
            <a:off x="1809750" y="1331118"/>
            <a:ext cx="38100" cy="1051321"/>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21"/>
          <p:cNvSpPr/>
          <p:nvPr/>
        </p:nvSpPr>
        <p:spPr>
          <a:xfrm>
            <a:off x="1809750" y="2620565"/>
            <a:ext cx="8572500" cy="1051321"/>
          </a:xfrm>
          <a:prstGeom prst="roundRect">
            <a:avLst>
              <a:gd name="adj" fmla="val 10872"/>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21"/>
          <p:cNvSpPr txBox="1"/>
          <p:nvPr/>
        </p:nvSpPr>
        <p:spPr>
          <a:xfrm>
            <a:off x="2381250" y="2811065"/>
            <a:ext cx="78105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475569"/>
                </a:solidFill>
                <a:latin typeface="Inter"/>
                <a:ea typeface="Inter"/>
                <a:cs typeface="Inter"/>
                <a:sym typeface="Inter"/>
              </a:rPr>
              <a:t>Áp</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dụng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hiệu</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quả</a:t>
            </a:r>
            <a:r>
              <a:rPr lang="en-US" sz="1650" b="0" i="0" u="none" strike="noStrike" cap="none" dirty="0">
                <a:solidFill>
                  <a:srgbClr val="475569"/>
                </a:solidFill>
                <a:latin typeface="Inter"/>
                <a:ea typeface="Inter"/>
                <a:cs typeface="Inter"/>
                <a:sym typeface="Inter"/>
              </a:rPr>
              <a:t> Firebase Realtime Database, </a:t>
            </a:r>
            <a:r>
              <a:rPr lang="en-US" sz="1650" b="0" i="0" u="none" strike="noStrike" cap="none" dirty="0" err="1">
                <a:solidFill>
                  <a:srgbClr val="475569"/>
                </a:solidFill>
                <a:latin typeface="Inter"/>
                <a:ea typeface="Inter"/>
                <a:cs typeface="Inter"/>
                <a:sym typeface="Inter"/>
              </a:rPr>
              <a:t>đáp</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ứng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yêu</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cầu</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lưu</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trữ</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và</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đồng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bộ</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hóa</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thông</a:t>
            </a:r>
            <a:r>
              <a:rPr lang="en-US" sz="1650" b="0" i="0" u="none" strike="noStrike" cap="none" dirty="0">
                <a:solidFill>
                  <a:srgbClr val="475569"/>
                </a:solidFill>
                <a:latin typeface="Inter"/>
                <a:ea typeface="Inter"/>
                <a:cs typeface="Inter"/>
                <a:sym typeface="Inter"/>
              </a:rPr>
              <a:t> tin </a:t>
            </a:r>
            <a:r>
              <a:rPr lang="en-US" sz="1650" b="0" i="0" u="none" strike="noStrike" cap="none" dirty="0" err="1">
                <a:solidFill>
                  <a:srgbClr val="475569"/>
                </a:solidFill>
                <a:latin typeface="Inter"/>
                <a:ea typeface="Inter"/>
                <a:cs typeface="Inter"/>
                <a:sym typeface="Inter"/>
              </a:rPr>
              <a:t>tức</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thì</a:t>
            </a:r>
            <a:r>
              <a:rPr lang="en-US" sz="1650" b="0" i="0" u="none" strike="noStrike" cap="none" dirty="0">
                <a:solidFill>
                  <a:srgbClr val="475569"/>
                </a:solidFill>
                <a:latin typeface="Inter"/>
                <a:ea typeface="Inter"/>
                <a:cs typeface="Inter"/>
                <a:sym typeface="Inter"/>
              </a:rPr>
              <a:t>.</a:t>
            </a:r>
            <a:endParaRPr dirty="0"/>
          </a:p>
        </p:txBody>
      </p:sp>
      <p:sp>
        <p:nvSpPr>
          <p:cNvPr id="190" name="Google Shape;190;p21"/>
          <p:cNvSpPr/>
          <p:nvPr/>
        </p:nvSpPr>
        <p:spPr>
          <a:xfrm>
            <a:off x="1809750" y="2620565"/>
            <a:ext cx="38100" cy="1051321"/>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21"/>
          <p:cNvSpPr/>
          <p:nvPr/>
        </p:nvSpPr>
        <p:spPr>
          <a:xfrm>
            <a:off x="1809750" y="3910012"/>
            <a:ext cx="8572500" cy="1051321"/>
          </a:xfrm>
          <a:prstGeom prst="roundRect">
            <a:avLst>
              <a:gd name="adj" fmla="val 10872"/>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21"/>
          <p:cNvSpPr txBox="1"/>
          <p:nvPr/>
        </p:nvSpPr>
        <p:spPr>
          <a:xfrm>
            <a:off x="2381250" y="4100512"/>
            <a:ext cx="78105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err="1">
                <a:solidFill>
                  <a:srgbClr val="475569"/>
                </a:solidFill>
                <a:latin typeface="Inter"/>
                <a:ea typeface="Inter"/>
                <a:cs typeface="Inter"/>
                <a:sym typeface="Inter"/>
              </a:rPr>
              <a:t>Hướng</a:t>
            </a:r>
            <a:r>
              <a:rPr lang="en-US" sz="1650" b="1" i="0" u="none" strike="noStrike" cap="none" dirty="0">
                <a:solidFill>
                  <a:srgbClr val="475569"/>
                </a:solidFill>
                <a:latin typeface="Inter"/>
                <a:ea typeface="Inter"/>
                <a:cs typeface="Inter"/>
                <a:sym typeface="Inter"/>
              </a:rPr>
              <a:t> </a:t>
            </a:r>
            <a:r>
              <a:rPr lang="en-US" sz="1650" b="1" i="0" u="none" strike="noStrike" cap="none" dirty="0" err="1">
                <a:solidFill>
                  <a:srgbClr val="475569"/>
                </a:solidFill>
                <a:latin typeface="Inter"/>
                <a:ea typeface="Inter"/>
                <a:cs typeface="Inter"/>
                <a:sym typeface="Inter"/>
              </a:rPr>
              <a:t>phát</a:t>
            </a:r>
            <a:r>
              <a:rPr lang="en-US" sz="1650" b="1" i="0" u="none" strike="noStrike" cap="none" dirty="0">
                <a:solidFill>
                  <a:srgbClr val="475569"/>
                </a:solidFill>
                <a:latin typeface="Inter"/>
                <a:ea typeface="Inter"/>
                <a:cs typeface="Inter"/>
                <a:sym typeface="Inter"/>
              </a:rPr>
              <a:t> </a:t>
            </a:r>
            <a:r>
              <a:rPr lang="en-US" sz="1650" b="1" i="0" u="none" strike="noStrike" cap="none" dirty="0" err="1">
                <a:solidFill>
                  <a:srgbClr val="475569"/>
                </a:solidFill>
                <a:latin typeface="Inter"/>
                <a:ea typeface="Inter"/>
                <a:cs typeface="Inter"/>
                <a:sym typeface="Inter"/>
              </a:rPr>
              <a:t>triển</a:t>
            </a:r>
            <a:r>
              <a:rPr lang="en-US" sz="1650" b="1" i="0" u="none" strike="noStrike" cap="none" dirty="0">
                <a:solidFill>
                  <a:srgbClr val="475569"/>
                </a:solidFill>
                <a:latin typeface="Inter"/>
                <a:ea typeface="Inter"/>
                <a:cs typeface="Inter"/>
                <a:sym typeface="Inter"/>
              </a:rPr>
              <a:t>:</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Tích</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hợp</a:t>
            </a:r>
            <a:r>
              <a:rPr lang="en-US" sz="1650" b="0" i="0" u="none" strike="noStrike" cap="none" dirty="0">
                <a:solidFill>
                  <a:srgbClr val="475569"/>
                </a:solidFill>
                <a:latin typeface="Inter"/>
                <a:ea typeface="Inter"/>
                <a:cs typeface="Inter"/>
                <a:sym typeface="Inter"/>
              </a:rPr>
              <a:t> Firebase Authentication </a:t>
            </a:r>
            <a:r>
              <a:rPr lang="en-US" sz="1650" b="0" i="0" u="none" strike="noStrike" cap="none" dirty="0" err="1">
                <a:solidFill>
                  <a:srgbClr val="475569"/>
                </a:solidFill>
                <a:latin typeface="Inter"/>
                <a:ea typeface="Inter"/>
                <a:cs typeface="Inter"/>
                <a:sym typeface="Inter"/>
              </a:rPr>
              <a:t>để</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quản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lý</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và</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phân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quyền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tài</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khoản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cho</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từng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giảng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viên</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riêng</a:t>
            </a:r>
            <a:r>
              <a:rPr lang="en-US" sz="1650" b="0" i="0" u="none" strike="noStrike" cap="none" dirty="0">
                <a:solidFill>
                  <a:srgbClr val="475569"/>
                </a:solidFill>
                <a:latin typeface="Inter"/>
                <a:ea typeface="Inter"/>
                <a:cs typeface="Inter"/>
                <a:sym typeface="Inter"/>
              </a:rPr>
              <a:t> </a:t>
            </a:r>
            <a:r>
              <a:rPr lang="en-US" sz="1650" b="0" i="0" u="none" strike="noStrike" cap="none" dirty="0" err="1">
                <a:solidFill>
                  <a:srgbClr val="475569"/>
                </a:solidFill>
                <a:latin typeface="Inter"/>
                <a:ea typeface="Inter"/>
                <a:cs typeface="Inter"/>
                <a:sym typeface="Inter"/>
              </a:rPr>
              <a:t>biệt</a:t>
            </a:r>
            <a:r>
              <a:rPr lang="en-US" sz="1650" b="0" i="0" u="none" strike="noStrike" cap="none" dirty="0">
                <a:solidFill>
                  <a:srgbClr val="475569"/>
                </a:solidFill>
                <a:latin typeface="Inter"/>
                <a:ea typeface="Inter"/>
                <a:cs typeface="Inter"/>
                <a:sym typeface="Inter"/>
              </a:rPr>
              <a:t>.</a:t>
            </a:r>
            <a:endParaRPr dirty="0"/>
          </a:p>
        </p:txBody>
      </p:sp>
      <p:sp>
        <p:nvSpPr>
          <p:cNvPr id="193" name="Google Shape;193;p21"/>
          <p:cNvSpPr/>
          <p:nvPr/>
        </p:nvSpPr>
        <p:spPr>
          <a:xfrm>
            <a:off x="1809750" y="3910012"/>
            <a:ext cx="38100" cy="1051321"/>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21"/>
          <p:cNvSpPr/>
          <p:nvPr/>
        </p:nvSpPr>
        <p:spPr>
          <a:xfrm>
            <a:off x="1809750" y="5199459"/>
            <a:ext cx="8572500" cy="1051321"/>
          </a:xfrm>
          <a:prstGeom prst="roundRect">
            <a:avLst>
              <a:gd name="adj" fmla="val 10872"/>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21"/>
          <p:cNvSpPr txBox="1"/>
          <p:nvPr/>
        </p:nvSpPr>
        <p:spPr>
          <a:xfrm>
            <a:off x="2381250" y="5389959"/>
            <a:ext cx="78105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475569"/>
                </a:solidFill>
                <a:latin typeface="Inter"/>
                <a:ea typeface="Inter"/>
                <a:cs typeface="Inter"/>
                <a:sym typeface="Inter"/>
              </a:rPr>
              <a:t>Hướng phát triển:</a:t>
            </a:r>
            <a:r>
              <a:rPr lang="en-US" sz="1650" b="0" i="0" u="none" strike="noStrike" cap="none">
                <a:solidFill>
                  <a:srgbClr val="475569"/>
                </a:solidFill>
                <a:latin typeface="Inter"/>
                <a:ea typeface="Inter"/>
                <a:cs typeface="Inter"/>
                <a:sym typeface="Inter"/>
              </a:rPr>
              <a:t> Bổ sung chức năng tự động tính điểm GPA và gửi thông báo Push Notification về điện thoại sinh viên.</a:t>
            </a:r>
            <a:endParaRPr/>
          </a:p>
        </p:txBody>
      </p:sp>
      <p:sp>
        <p:nvSpPr>
          <p:cNvPr id="196" name="Google Shape;196;p21"/>
          <p:cNvSpPr/>
          <p:nvPr/>
        </p:nvSpPr>
        <p:spPr>
          <a:xfrm>
            <a:off x="1809750" y="5199459"/>
            <a:ext cx="38100" cy="1051321"/>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7" name="Google Shape;197;p21" descr="image.png"/>
          <p:cNvPicPr preferRelativeResize="0"/>
          <p:nvPr/>
        </p:nvPicPr>
        <p:blipFill rotWithShape="1">
          <a:blip r:embed="rId4">
            <a:alphaModFix/>
          </a:blip>
          <a:srcRect/>
          <a:stretch/>
        </p:blipFill>
        <p:spPr>
          <a:xfrm>
            <a:off x="1990725" y="1718667"/>
            <a:ext cx="266700" cy="276225"/>
          </a:xfrm>
          <a:prstGeom prst="rect">
            <a:avLst/>
          </a:prstGeom>
          <a:noFill/>
          <a:ln>
            <a:noFill/>
          </a:ln>
        </p:spPr>
      </p:pic>
      <p:pic>
        <p:nvPicPr>
          <p:cNvPr id="198" name="Google Shape;198;p21" descr="image.png"/>
          <p:cNvPicPr preferRelativeResize="0"/>
          <p:nvPr/>
        </p:nvPicPr>
        <p:blipFill rotWithShape="1">
          <a:blip r:embed="rId4">
            <a:alphaModFix/>
          </a:blip>
          <a:srcRect/>
          <a:stretch/>
        </p:blipFill>
        <p:spPr>
          <a:xfrm>
            <a:off x="1990725" y="3008114"/>
            <a:ext cx="266700" cy="276225"/>
          </a:xfrm>
          <a:prstGeom prst="rect">
            <a:avLst/>
          </a:prstGeom>
          <a:noFill/>
          <a:ln>
            <a:noFill/>
          </a:ln>
        </p:spPr>
      </p:pic>
      <p:pic>
        <p:nvPicPr>
          <p:cNvPr id="199" name="Google Shape;199;p21" descr="image.png"/>
          <p:cNvPicPr preferRelativeResize="0"/>
          <p:nvPr/>
        </p:nvPicPr>
        <p:blipFill rotWithShape="1">
          <a:blip r:embed="rId5">
            <a:alphaModFix/>
          </a:blip>
          <a:srcRect/>
          <a:stretch/>
        </p:blipFill>
        <p:spPr>
          <a:xfrm>
            <a:off x="1990725" y="4297560"/>
            <a:ext cx="304800" cy="276225"/>
          </a:xfrm>
          <a:prstGeom prst="rect">
            <a:avLst/>
          </a:prstGeom>
          <a:noFill/>
          <a:ln>
            <a:noFill/>
          </a:ln>
        </p:spPr>
      </p:pic>
      <p:pic>
        <p:nvPicPr>
          <p:cNvPr id="200" name="Google Shape;200;p21" descr="image.png"/>
          <p:cNvPicPr preferRelativeResize="0"/>
          <p:nvPr/>
        </p:nvPicPr>
        <p:blipFill rotWithShape="1">
          <a:blip r:embed="rId5">
            <a:alphaModFix/>
          </a:blip>
          <a:srcRect/>
          <a:stretch/>
        </p:blipFill>
        <p:spPr>
          <a:xfrm>
            <a:off x="1990725" y="5587007"/>
            <a:ext cx="304800" cy="276225"/>
          </a:xfrm>
          <a:prstGeom prst="rect">
            <a:avLst/>
          </a:prstGeom>
          <a:noFill/>
          <a:ln>
            <a:noFill/>
          </a:ln>
        </p:spPr>
      </p:pic>
      <p:sp>
        <p:nvSpPr>
          <p:cNvPr id="201" name="Google Shape;201;p21"/>
          <p:cNvSpPr txBox="1"/>
          <p:nvPr/>
        </p:nvSpPr>
        <p:spPr>
          <a:xfrm>
            <a:off x="571500" y="369093"/>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Tổng Kết </a:t>
            </a:r>
            <a:r>
              <a:rPr lang="en-US" sz="3600" b="0" i="0" u="none" strike="noStrike" cap="none">
                <a:solidFill>
                  <a:srgbClr val="2563EB"/>
                </a:solidFill>
                <a:latin typeface="Plus Jakarta Sans ExtraBold"/>
                <a:ea typeface="Plus Jakarta Sans ExtraBold"/>
                <a:cs typeface="Plus Jakarta Sans ExtraBold"/>
                <a:sym typeface="Plus Jakarta Sans ExtraBold"/>
              </a:rPr>
              <a:t>&amp;</a:t>
            </a:r>
            <a:r>
              <a:rPr lang="en-US" sz="3600" b="0" i="0" u="none" strike="noStrike" cap="none">
                <a:solidFill>
                  <a:srgbClr val="0F172A"/>
                </a:solidFill>
                <a:latin typeface="Plus Jakarta Sans ExtraBold"/>
                <a:ea typeface="Plus Jakarta Sans ExtraBold"/>
                <a:cs typeface="Plus Jakarta Sans ExtraBold"/>
                <a:sym typeface="Plus Jakarta Sans ExtraBold"/>
              </a:rPr>
              <a:t> Hướng Phát Triển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5"/>
        <p:cNvGrpSpPr/>
        <p:nvPr/>
      </p:nvGrpSpPr>
      <p:grpSpPr>
        <a:xfrm>
          <a:off x="0" y="0"/>
          <a:ext cx="0" cy="0"/>
          <a:chOff x="0" y="0"/>
          <a:chExt cx="0" cy="0"/>
        </a:xfrm>
      </p:grpSpPr>
      <p:pic>
        <p:nvPicPr>
          <p:cNvPr id="206" name="Google Shape;20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7" name="Google Shape;207;p22"/>
          <p:cNvSpPr txBox="1"/>
          <p:nvPr/>
        </p:nvSpPr>
        <p:spPr>
          <a:xfrm>
            <a:off x="295275" y="2104132"/>
            <a:ext cx="11601600" cy="115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a:solidFill>
                  <a:srgbClr val="1E40AF"/>
                </a:solidFill>
                <a:latin typeface="Plus Jakarta Sans ExtraBold"/>
                <a:ea typeface="Plus Jakarta Sans ExtraBold"/>
                <a:cs typeface="Plus Jakarta Sans ExtraBold"/>
                <a:sym typeface="Plus Jakarta Sans ExtraBold"/>
              </a:rPr>
              <a:t>THANK YOU</a:t>
            </a:r>
            <a:endParaRPr/>
          </a:p>
        </p:txBody>
      </p:sp>
      <p:sp>
        <p:nvSpPr>
          <p:cNvPr id="208" name="Google Shape;208;p22"/>
          <p:cNvSpPr/>
          <p:nvPr/>
        </p:nvSpPr>
        <p:spPr>
          <a:xfrm>
            <a:off x="5619750" y="3685282"/>
            <a:ext cx="9525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2"/>
          <p:cNvSpPr txBox="1"/>
          <p:nvPr/>
        </p:nvSpPr>
        <p:spPr>
          <a:xfrm>
            <a:off x="571500" y="4123432"/>
            <a:ext cx="110490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475569"/>
                </a:solidFill>
                <a:latin typeface="Inter"/>
                <a:ea typeface="Inter"/>
                <a:cs typeface="Inter"/>
                <a:sym typeface="Inter"/>
              </a:rPr>
              <a:t>Cảm ơn Thầy và các bạn đã lắng nghe!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593</Words>
  <Application>Microsoft Office PowerPoint</Application>
  <PresentationFormat>Màn hình rộng</PresentationFormat>
  <Paragraphs>40</Paragraphs>
  <Slides>10</Slides>
  <Notes>10</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10</vt:i4>
      </vt:variant>
    </vt:vector>
  </HeadingPairs>
  <TitlesOfParts>
    <vt:vector size="18" baseType="lpstr">
      <vt:lpstr>Inter SemiBold</vt:lpstr>
      <vt:lpstr>Arial</vt:lpstr>
      <vt:lpstr>Inter Medium</vt:lpstr>
      <vt:lpstr>Calibri</vt:lpstr>
      <vt:lpstr>Plus Jakarta Sans SemiBold</vt:lpstr>
      <vt:lpstr>Plus Jakarta Sans ExtraBold</vt:lpstr>
      <vt:lpstr>Inter</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a48546 Kiều Thiên Phú</cp:lastModifiedBy>
  <cp:revision>1</cp:revision>
  <dcterms:modified xsi:type="dcterms:W3CDTF">2026-06-02T10:54:12Z</dcterms:modified>
</cp:coreProperties>
</file>